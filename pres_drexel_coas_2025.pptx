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5143500" cx="9144000"/>
  <p:notesSz cx="6858000" cy="9144000"/>
  <p:embeddedFontLst>
    <p:embeddedFont>
      <p:font typeface="Instrument Sans"/>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InstrumentSans-boldItalic.fntdata"/><Relationship Id="rId9" Type="http://schemas.openxmlformats.org/officeDocument/2006/relationships/font" Target="fonts/Instrument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InstrumentSans-regular.fntdata"/><Relationship Id="rId8" Type="http://schemas.openxmlformats.org/officeDocument/2006/relationships/font" Target="fonts/Instrument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5b2bc9b8e8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5b2bc9b8e8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a:solidFill>
                  <a:schemeClr val="dk1"/>
                </a:solidFill>
              </a:rPr>
              <a:t>Hi! My name is Madeline Navea, I am a junior psychology major with minors in data science and computer science, and today I will be discussing the dynamic relations between self-injurious urges, affect, and self-injurious behaviors!</a:t>
            </a:r>
            <a:endParaRPr b="1">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Self-injurious behaviors including harmful behaviors such as non-suicidal self-injury—like cutting or self-harm without intent to die—and eating disorder behaviors such as binge eating, self-induced vomiting, or excessive exercise for weight control.</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Despite decades of research, our ability to predict these behaviors remains remarkably poor—essentially no better than a coin toss. Meta-analyses have found that even the strongest predictors yield odds ratios under 3.0, meaning when a risk factor is present, the odds of self-injurious behavior only increases by three-fold—a relatively modest effect that provides limited utility for clinical decision-making.</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Self-injurious urges and affect are two of the strongest predictors for these behaviors. Theoretical models emphasize that negative emotions serve as primary drivers, while positive emotions may be protective. However, previous studies examined these relationships over months or years, while we know that urges and emotions can change within minutes or seconds. A person might experience sudden distress, develop an urge within minutes, and act shortly thereafter. As a result, these risk factors appear weak when examined over long time periods.</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Given these limitations, we need to examine these behaviors using shorter time points with analyses that capture their momentary, dynamic nature. This is where ecological momentary assessment comes in—allowing us to capture real-time fluctuations in emotions, urges, and behaviors as they unfold in people's daily lives.</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We used dynamic structural equation modeling, a type of computational model that allows us to examine data with shorter timepoints, and we had two aims: First, examine how negative and positive affect at the current observation predict urges at the next observation, and how urges predict behaviors following that. Second, examine how urges mediate the relationship between affect and behaviors—testing whether urges are the mechanism through which emotions translate into harmful actions.</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[MODEL/ANALYSIS/RESULTS]</a:t>
            </a:r>
            <a:endParaRPr b="1">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Just to orient you all to the results, these arrows indicate significant and non-significant pathways, and these callouts represent the significant paths.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Negative affect at the current observation predicted substantial increases in both urges at the next observation and self-injurious behaviors at the following observation. This supports our understanding that negative emotions trigger both urges and direct behavioral engagement. Interestingly, no other individual pathways were significant—positive affect didn't show expected protective effects.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direct pathway from negative affect to behaviors suggests people may sometimes bypass the urge stage entirely, acting immediately following emotional distress.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TOTAL mediation effects were significant for both positive and negative affect. This means affect contributes to behaviors both directly and indirectly through urges. Even though individual urge pathways weren't significant, the indirect effects still meaningfully contribute when combined.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Sensitivity analyses using multilevel models aligned with our findings but suggested there should be a relationship between urges and behaviors. It's possible that accounting for subsequent urges weakened this direct relationship in our primary model.</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[DISCUSSION]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What does this mean? For some individuals, negative affect may trigger urges and predict behaviors directly, even without reported urges in between. This suggests intervention should target emotional dysregulation immediately, rather than waiting for urges to develop.</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Second, urges may not predict behaviors when considered alone or when accounting for subsequent emotional states. This challenges models positioning urges as the primary predictor.</a:t>
            </a:r>
            <a:endParaRPr>
              <a:solidFill>
                <a:schemeClr val="dk1"/>
              </a:solidFill>
            </a:endParaRPr>
          </a:p>
          <a:p>
            <a:pPr indent="0" lvl="0" marL="0" rtl="0" algn="l">
              <a:lnSpc>
                <a:spcPct val="115000"/>
              </a:lnSpc>
              <a:spcBef>
                <a:spcPts val="1200"/>
              </a:spcBef>
              <a:spcAft>
                <a:spcPts val="0"/>
              </a:spcAft>
              <a:buNone/>
            </a:pPr>
            <a:r>
              <a:rPr lang="en">
                <a:solidFill>
                  <a:schemeClr val="dk1"/>
                </a:solidFill>
              </a:rPr>
              <a:t>Overall, self-injurious behaviors are better understood as products of multiple interacting factors across different timescales, rather than individual predictors. This has important implications for just-in-time interventions that can identify distress and provide immediate support before behaviors occur.</a:t>
            </a:r>
            <a:endParaRPr>
              <a:solidFill>
                <a:schemeClr val="dk1"/>
              </a:solidFill>
            </a:endParaRPr>
          </a:p>
          <a:p>
            <a:pPr indent="0" lvl="0" marL="0" rtl="0" algn="l">
              <a:lnSpc>
                <a:spcPct val="115000"/>
              </a:lnSpc>
              <a:spcBef>
                <a:spcPts val="1200"/>
              </a:spcBef>
              <a:spcAft>
                <a:spcPts val="0"/>
              </a:spcAft>
              <a:buNone/>
            </a:pPr>
            <a:r>
              <a:rPr lang="en">
                <a:solidFill>
                  <a:schemeClr val="dk1"/>
                </a:solidFill>
              </a:rPr>
              <a:t>Understanding these dynamic processes will advance both theoretical models and precise interventions that interrupt the emotion-to-behavior cycle at optimal points. Thank you!</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0" y="108875"/>
            <a:ext cx="9087900" cy="6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Instrument Sans"/>
                <a:ea typeface="Instrument Sans"/>
                <a:cs typeface="Instrument Sans"/>
                <a:sym typeface="Instrument Sans"/>
              </a:rPr>
              <a:t>D</a:t>
            </a:r>
            <a:r>
              <a:rPr b="1" lang="en" sz="1900">
                <a:solidFill>
                  <a:schemeClr val="dk1"/>
                </a:solidFill>
                <a:latin typeface="Instrument Sans"/>
                <a:ea typeface="Instrument Sans"/>
                <a:cs typeface="Instrument Sans"/>
                <a:sym typeface="Instrument Sans"/>
              </a:rPr>
              <a:t>ynamic relations among self-injurious urges, affect, and self-injurious behaviors</a:t>
            </a:r>
            <a:endParaRPr b="1" sz="1900">
              <a:solidFill>
                <a:schemeClr val="dk1"/>
              </a:solidFill>
              <a:latin typeface="Instrument Sans"/>
              <a:ea typeface="Instrument Sans"/>
              <a:cs typeface="Instrument Sans"/>
              <a:sym typeface="Instrument Sans"/>
            </a:endParaRPr>
          </a:p>
        </p:txBody>
      </p:sp>
      <p:sp>
        <p:nvSpPr>
          <p:cNvPr id="55" name="Google Shape;55;p13"/>
          <p:cNvSpPr txBox="1"/>
          <p:nvPr/>
        </p:nvSpPr>
        <p:spPr>
          <a:xfrm>
            <a:off x="0" y="705888"/>
            <a:ext cx="8597100" cy="46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Instrument Sans"/>
                <a:ea typeface="Instrument Sans"/>
                <a:cs typeface="Instrument Sans"/>
                <a:sym typeface="Instrument Sans"/>
              </a:rPr>
              <a:t>Madeline Navea, Laura D’Adamo, Jannah Moussaoui, April Smith, Stephanie Manasse, Elizabeth Velkoff</a:t>
            </a:r>
            <a:endParaRPr sz="900">
              <a:solidFill>
                <a:schemeClr val="dk1"/>
              </a:solidFill>
              <a:latin typeface="Instrument Sans"/>
              <a:ea typeface="Instrument Sans"/>
              <a:cs typeface="Instrument Sans"/>
              <a:sym typeface="Instrument Sans"/>
            </a:endParaRPr>
          </a:p>
        </p:txBody>
      </p:sp>
      <p:cxnSp>
        <p:nvCxnSpPr>
          <p:cNvPr id="56" name="Google Shape;56;p13"/>
          <p:cNvCxnSpPr>
            <a:stCxn id="57" idx="2"/>
            <a:endCxn id="58" idx="0"/>
          </p:cNvCxnSpPr>
          <p:nvPr/>
        </p:nvCxnSpPr>
        <p:spPr>
          <a:xfrm>
            <a:off x="4638632" y="1975466"/>
            <a:ext cx="2837100" cy="888600"/>
          </a:xfrm>
          <a:prstGeom prst="straightConnector1">
            <a:avLst/>
          </a:prstGeom>
          <a:noFill/>
          <a:ln cap="flat" cmpd="sng" w="38100">
            <a:solidFill>
              <a:schemeClr val="dk1"/>
            </a:solidFill>
            <a:prstDash val="dot"/>
            <a:round/>
            <a:headEnd len="med" w="med" type="none"/>
            <a:tailEnd len="med" w="med" type="triangle"/>
          </a:ln>
        </p:spPr>
      </p:cxnSp>
      <p:grpSp>
        <p:nvGrpSpPr>
          <p:cNvPr id="59" name="Google Shape;59;p13"/>
          <p:cNvGrpSpPr/>
          <p:nvPr/>
        </p:nvGrpSpPr>
        <p:grpSpPr>
          <a:xfrm>
            <a:off x="3523960" y="1311500"/>
            <a:ext cx="3088162" cy="675020"/>
            <a:chOff x="3439409" y="1442381"/>
            <a:chExt cx="2877527" cy="591863"/>
          </a:xfrm>
        </p:grpSpPr>
        <p:grpSp>
          <p:nvGrpSpPr>
            <p:cNvPr id="60" name="Google Shape;60;p13"/>
            <p:cNvGrpSpPr/>
            <p:nvPr/>
          </p:nvGrpSpPr>
          <p:grpSpPr>
            <a:xfrm>
              <a:off x="3439409" y="1442381"/>
              <a:ext cx="2062958" cy="591863"/>
              <a:chOff x="4422349" y="1183000"/>
              <a:chExt cx="1497501" cy="679834"/>
            </a:xfrm>
          </p:grpSpPr>
          <p:sp>
            <p:nvSpPr>
              <p:cNvPr id="57" name="Google Shape;57;p13"/>
              <p:cNvSpPr/>
              <p:nvPr/>
            </p:nvSpPr>
            <p:spPr>
              <a:xfrm>
                <a:off x="4432750" y="1183000"/>
                <a:ext cx="1487100" cy="668700"/>
              </a:xfrm>
              <a:prstGeom prst="roundRect">
                <a:avLst>
                  <a:gd fmla="val 16667" name="adj"/>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13"/>
              <p:cNvSpPr txBox="1"/>
              <p:nvPr/>
            </p:nvSpPr>
            <p:spPr>
              <a:xfrm>
                <a:off x="4422349" y="1301834"/>
                <a:ext cx="1487100" cy="56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dk1"/>
                    </a:solidFill>
                    <a:latin typeface="Instrument Sans"/>
                    <a:ea typeface="Instrument Sans"/>
                    <a:cs typeface="Instrument Sans"/>
                    <a:sym typeface="Instrument Sans"/>
                  </a:rPr>
                  <a:t>Self-injurious urges</a:t>
                </a:r>
                <a:endParaRPr b="1" sz="1700">
                  <a:solidFill>
                    <a:schemeClr val="dk1"/>
                  </a:solidFill>
                  <a:latin typeface="Instrument Sans"/>
                  <a:ea typeface="Instrument Sans"/>
                  <a:cs typeface="Instrument Sans"/>
                  <a:sym typeface="Instrument Sans"/>
                </a:endParaRPr>
              </a:p>
            </p:txBody>
          </p:sp>
        </p:grpSp>
        <p:sp>
          <p:nvSpPr>
            <p:cNvPr id="62" name="Google Shape;62;p13"/>
            <p:cNvSpPr txBox="1"/>
            <p:nvPr/>
          </p:nvSpPr>
          <p:spPr>
            <a:xfrm>
              <a:off x="5511136" y="1545113"/>
              <a:ext cx="8058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Impact"/>
                  <a:ea typeface="Impact"/>
                  <a:cs typeface="Impact"/>
                  <a:sym typeface="Impact"/>
                </a:rPr>
                <a:t>T+2</a:t>
              </a:r>
              <a:endParaRPr sz="1800">
                <a:solidFill>
                  <a:schemeClr val="dk2"/>
                </a:solidFill>
                <a:latin typeface="Impact"/>
                <a:ea typeface="Impact"/>
                <a:cs typeface="Impact"/>
                <a:sym typeface="Impact"/>
              </a:endParaRPr>
            </a:p>
          </p:txBody>
        </p:sp>
      </p:grpSp>
      <p:grpSp>
        <p:nvGrpSpPr>
          <p:cNvPr id="63" name="Google Shape;63;p13"/>
          <p:cNvGrpSpPr/>
          <p:nvPr/>
        </p:nvGrpSpPr>
        <p:grpSpPr>
          <a:xfrm>
            <a:off x="6376462" y="2832313"/>
            <a:ext cx="2767327" cy="695640"/>
            <a:chOff x="6097350" y="2775842"/>
            <a:chExt cx="2578575" cy="609943"/>
          </a:xfrm>
        </p:grpSpPr>
        <p:grpSp>
          <p:nvGrpSpPr>
            <p:cNvPr id="64" name="Google Shape;64;p13"/>
            <p:cNvGrpSpPr/>
            <p:nvPr/>
          </p:nvGrpSpPr>
          <p:grpSpPr>
            <a:xfrm>
              <a:off x="6097350" y="2775842"/>
              <a:ext cx="2048629" cy="609943"/>
              <a:chOff x="6097350" y="2775842"/>
              <a:chExt cx="2048629" cy="609943"/>
            </a:xfrm>
          </p:grpSpPr>
          <p:sp>
            <p:nvSpPr>
              <p:cNvPr id="58" name="Google Shape;58;p13"/>
              <p:cNvSpPr/>
              <p:nvPr/>
            </p:nvSpPr>
            <p:spPr>
              <a:xfrm>
                <a:off x="6097350" y="2803614"/>
                <a:ext cx="2048629" cy="582170"/>
              </a:xfrm>
              <a:prstGeom prst="roundRect">
                <a:avLst>
                  <a:gd fmla="val 16667" name="adj"/>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3"/>
              <p:cNvSpPr txBox="1"/>
              <p:nvPr/>
            </p:nvSpPr>
            <p:spPr>
              <a:xfrm>
                <a:off x="6299189" y="2775842"/>
                <a:ext cx="1593300" cy="48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Instrument Sans"/>
                    <a:ea typeface="Instrument Sans"/>
                    <a:cs typeface="Instrument Sans"/>
                    <a:sym typeface="Instrument Sans"/>
                  </a:rPr>
                  <a:t>Self-injurious behaviors</a:t>
                </a:r>
                <a:endParaRPr b="1" sz="1800">
                  <a:solidFill>
                    <a:schemeClr val="dk1"/>
                  </a:solidFill>
                  <a:latin typeface="Instrument Sans"/>
                  <a:ea typeface="Instrument Sans"/>
                  <a:cs typeface="Instrument Sans"/>
                  <a:sym typeface="Instrument Sans"/>
                </a:endParaRPr>
              </a:p>
            </p:txBody>
          </p:sp>
        </p:grpSp>
        <p:sp>
          <p:nvSpPr>
            <p:cNvPr id="66" name="Google Shape;66;p13"/>
            <p:cNvSpPr txBox="1"/>
            <p:nvPr/>
          </p:nvSpPr>
          <p:spPr>
            <a:xfrm>
              <a:off x="8094225" y="2901500"/>
              <a:ext cx="5817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Impact"/>
                  <a:ea typeface="Impact"/>
                  <a:cs typeface="Impact"/>
                  <a:sym typeface="Impact"/>
                </a:rPr>
                <a:t>T+3</a:t>
              </a:r>
              <a:endParaRPr sz="1800">
                <a:solidFill>
                  <a:schemeClr val="dk2"/>
                </a:solidFill>
                <a:latin typeface="Impact"/>
                <a:ea typeface="Impact"/>
                <a:cs typeface="Impact"/>
                <a:sym typeface="Impact"/>
              </a:endParaRPr>
            </a:p>
          </p:txBody>
        </p:sp>
      </p:grpSp>
      <p:cxnSp>
        <p:nvCxnSpPr>
          <p:cNvPr id="67" name="Google Shape;67;p13"/>
          <p:cNvCxnSpPr/>
          <p:nvPr/>
        </p:nvCxnSpPr>
        <p:spPr>
          <a:xfrm flipH="1">
            <a:off x="6241207" y="1392426"/>
            <a:ext cx="742500" cy="232800"/>
          </a:xfrm>
          <a:prstGeom prst="straightConnector1">
            <a:avLst/>
          </a:prstGeom>
          <a:noFill/>
          <a:ln cap="flat" cmpd="sng" w="19050">
            <a:solidFill>
              <a:srgbClr val="D72638"/>
            </a:solidFill>
            <a:prstDash val="solid"/>
            <a:round/>
            <a:headEnd len="med" w="med" type="none"/>
            <a:tailEnd len="med" w="med" type="stealth"/>
          </a:ln>
        </p:spPr>
      </p:cxnSp>
      <p:sp>
        <p:nvSpPr>
          <p:cNvPr id="68" name="Google Shape;68;p13"/>
          <p:cNvSpPr txBox="1"/>
          <p:nvPr/>
        </p:nvSpPr>
        <p:spPr>
          <a:xfrm>
            <a:off x="6912698" y="1165225"/>
            <a:ext cx="12792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CC0000"/>
                </a:solidFill>
              </a:rPr>
              <a:t>OBSERVATION POINT</a:t>
            </a:r>
            <a:endParaRPr b="1" sz="1100">
              <a:solidFill>
                <a:srgbClr val="CC0000"/>
              </a:solidFill>
            </a:endParaRPr>
          </a:p>
          <a:p>
            <a:pPr indent="0" lvl="0" marL="0" rtl="0" algn="l">
              <a:spcBef>
                <a:spcPts val="0"/>
              </a:spcBef>
              <a:spcAft>
                <a:spcPts val="0"/>
              </a:spcAft>
              <a:buNone/>
            </a:pPr>
            <a:r>
              <a:t/>
            </a:r>
            <a:endParaRPr b="1" sz="900">
              <a:solidFill>
                <a:srgbClr val="CC0000"/>
              </a:solidFill>
            </a:endParaRPr>
          </a:p>
        </p:txBody>
      </p:sp>
      <p:grpSp>
        <p:nvGrpSpPr>
          <p:cNvPr id="69" name="Google Shape;69;p13"/>
          <p:cNvGrpSpPr/>
          <p:nvPr/>
        </p:nvGrpSpPr>
        <p:grpSpPr>
          <a:xfrm>
            <a:off x="603354" y="2727160"/>
            <a:ext cx="1451739" cy="937789"/>
            <a:chOff x="879075" y="991300"/>
            <a:chExt cx="981900" cy="944400"/>
          </a:xfrm>
        </p:grpSpPr>
        <p:sp>
          <p:nvSpPr>
            <p:cNvPr id="70" name="Google Shape;70;p13"/>
            <p:cNvSpPr/>
            <p:nvPr/>
          </p:nvSpPr>
          <p:spPr>
            <a:xfrm>
              <a:off x="879075" y="991300"/>
              <a:ext cx="981900" cy="944400"/>
            </a:xfrm>
            <a:prstGeom prst="ellipse">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t> </a:t>
              </a:r>
              <a:endParaRPr b="1" sz="1000"/>
            </a:p>
          </p:txBody>
        </p:sp>
        <p:sp>
          <p:nvSpPr>
            <p:cNvPr id="71" name="Google Shape;71;p13"/>
            <p:cNvSpPr txBox="1"/>
            <p:nvPr/>
          </p:nvSpPr>
          <p:spPr>
            <a:xfrm>
              <a:off x="879075" y="1104548"/>
              <a:ext cx="981900" cy="56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Instrument Sans"/>
                  <a:ea typeface="Instrument Sans"/>
                  <a:cs typeface="Instrument Sans"/>
                  <a:sym typeface="Instrument Sans"/>
                </a:rPr>
                <a:t>Negative Affect</a:t>
              </a:r>
              <a:endParaRPr b="1" sz="1800">
                <a:solidFill>
                  <a:schemeClr val="dk1"/>
                </a:solidFill>
                <a:latin typeface="Instrument Sans"/>
                <a:ea typeface="Instrument Sans"/>
                <a:cs typeface="Instrument Sans"/>
                <a:sym typeface="Instrument Sans"/>
              </a:endParaRPr>
            </a:p>
          </p:txBody>
        </p:sp>
      </p:grpSp>
      <p:grpSp>
        <p:nvGrpSpPr>
          <p:cNvPr id="72" name="Google Shape;72;p13"/>
          <p:cNvGrpSpPr/>
          <p:nvPr/>
        </p:nvGrpSpPr>
        <p:grpSpPr>
          <a:xfrm>
            <a:off x="1418202" y="3848939"/>
            <a:ext cx="1451739" cy="937789"/>
            <a:chOff x="879075" y="991300"/>
            <a:chExt cx="981900" cy="944400"/>
          </a:xfrm>
        </p:grpSpPr>
        <p:sp>
          <p:nvSpPr>
            <p:cNvPr id="73" name="Google Shape;73;p13"/>
            <p:cNvSpPr/>
            <p:nvPr/>
          </p:nvSpPr>
          <p:spPr>
            <a:xfrm>
              <a:off x="879075" y="991300"/>
              <a:ext cx="981900" cy="944400"/>
            </a:xfrm>
            <a:prstGeom prst="ellipse">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t> </a:t>
              </a:r>
              <a:endParaRPr b="1" sz="1000"/>
            </a:p>
          </p:txBody>
        </p:sp>
        <p:sp>
          <p:nvSpPr>
            <p:cNvPr id="74" name="Google Shape;74;p13"/>
            <p:cNvSpPr txBox="1"/>
            <p:nvPr/>
          </p:nvSpPr>
          <p:spPr>
            <a:xfrm>
              <a:off x="915081" y="1129148"/>
              <a:ext cx="909900" cy="56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Instrument Sans"/>
                  <a:ea typeface="Instrument Sans"/>
                  <a:cs typeface="Instrument Sans"/>
                  <a:sym typeface="Instrument Sans"/>
                </a:rPr>
                <a:t>Positive Affect</a:t>
              </a:r>
              <a:endParaRPr b="1" sz="1800">
                <a:solidFill>
                  <a:schemeClr val="dk1"/>
                </a:solidFill>
                <a:latin typeface="Instrument Sans"/>
                <a:ea typeface="Instrument Sans"/>
                <a:cs typeface="Instrument Sans"/>
                <a:sym typeface="Instrument Sans"/>
              </a:endParaRPr>
            </a:p>
          </p:txBody>
        </p:sp>
      </p:grpSp>
      <p:cxnSp>
        <p:nvCxnSpPr>
          <p:cNvPr id="75" name="Google Shape;75;p13"/>
          <p:cNvCxnSpPr>
            <a:stCxn id="71" idx="3"/>
            <a:endCxn id="57" idx="2"/>
          </p:cNvCxnSpPr>
          <p:nvPr/>
        </p:nvCxnSpPr>
        <p:spPr>
          <a:xfrm flipH="1" rot="10800000">
            <a:off x="2055093" y="1975452"/>
            <a:ext cx="2583600" cy="1142700"/>
          </a:xfrm>
          <a:prstGeom prst="straightConnector1">
            <a:avLst/>
          </a:prstGeom>
          <a:noFill/>
          <a:ln cap="flat" cmpd="sng" w="38100">
            <a:solidFill>
              <a:schemeClr val="dk1"/>
            </a:solidFill>
            <a:prstDash val="solid"/>
            <a:round/>
            <a:headEnd len="med" w="med" type="none"/>
            <a:tailEnd len="med" w="med" type="triangle"/>
          </a:ln>
        </p:spPr>
      </p:cxnSp>
      <p:cxnSp>
        <p:nvCxnSpPr>
          <p:cNvPr id="76" name="Google Shape;76;p13"/>
          <p:cNvCxnSpPr>
            <a:stCxn id="73" idx="6"/>
            <a:endCxn id="58" idx="1"/>
          </p:cNvCxnSpPr>
          <p:nvPr/>
        </p:nvCxnSpPr>
        <p:spPr>
          <a:xfrm flipH="1" rot="10800000">
            <a:off x="2869941" y="3195833"/>
            <a:ext cx="3506400" cy="1122000"/>
          </a:xfrm>
          <a:prstGeom prst="straightConnector1">
            <a:avLst/>
          </a:prstGeom>
          <a:noFill/>
          <a:ln cap="flat" cmpd="sng" w="38100">
            <a:solidFill>
              <a:schemeClr val="dk1"/>
            </a:solidFill>
            <a:prstDash val="dot"/>
            <a:round/>
            <a:headEnd len="med" w="med" type="none"/>
            <a:tailEnd len="med" w="med" type="triangle"/>
          </a:ln>
        </p:spPr>
      </p:cxnSp>
      <p:cxnSp>
        <p:nvCxnSpPr>
          <p:cNvPr id="77" name="Google Shape;77;p13"/>
          <p:cNvCxnSpPr>
            <a:stCxn id="71" idx="3"/>
            <a:endCxn id="58" idx="1"/>
          </p:cNvCxnSpPr>
          <p:nvPr/>
        </p:nvCxnSpPr>
        <p:spPr>
          <a:xfrm>
            <a:off x="2055093" y="3118152"/>
            <a:ext cx="4321500" cy="77700"/>
          </a:xfrm>
          <a:prstGeom prst="straightConnector1">
            <a:avLst/>
          </a:prstGeom>
          <a:noFill/>
          <a:ln cap="flat" cmpd="sng" w="38100">
            <a:solidFill>
              <a:schemeClr val="dk1"/>
            </a:solidFill>
            <a:prstDash val="solid"/>
            <a:round/>
            <a:headEnd len="med" w="med" type="none"/>
            <a:tailEnd len="med" w="med" type="triangle"/>
          </a:ln>
        </p:spPr>
      </p:cxnSp>
      <p:cxnSp>
        <p:nvCxnSpPr>
          <p:cNvPr id="78" name="Google Shape;78;p13"/>
          <p:cNvCxnSpPr>
            <a:stCxn id="73" idx="6"/>
            <a:endCxn id="57" idx="2"/>
          </p:cNvCxnSpPr>
          <p:nvPr/>
        </p:nvCxnSpPr>
        <p:spPr>
          <a:xfrm flipH="1" rot="10800000">
            <a:off x="2869941" y="1975433"/>
            <a:ext cx="1768800" cy="2342400"/>
          </a:xfrm>
          <a:prstGeom prst="straightConnector1">
            <a:avLst/>
          </a:prstGeom>
          <a:noFill/>
          <a:ln cap="flat" cmpd="sng" w="38100">
            <a:solidFill>
              <a:schemeClr val="dk1"/>
            </a:solidFill>
            <a:prstDash val="dot"/>
            <a:round/>
            <a:headEnd len="med" w="med" type="none"/>
            <a:tailEnd len="med" w="med" type="triangle"/>
          </a:ln>
        </p:spPr>
      </p:cxnSp>
      <p:cxnSp>
        <p:nvCxnSpPr>
          <p:cNvPr id="79" name="Google Shape;79;p13"/>
          <p:cNvCxnSpPr/>
          <p:nvPr/>
        </p:nvCxnSpPr>
        <p:spPr>
          <a:xfrm>
            <a:off x="1224075" y="2318700"/>
            <a:ext cx="1265400" cy="575700"/>
          </a:xfrm>
          <a:prstGeom prst="straightConnector1">
            <a:avLst/>
          </a:prstGeom>
          <a:noFill/>
          <a:ln cap="flat" cmpd="sng" w="19050">
            <a:solidFill>
              <a:srgbClr val="D72638"/>
            </a:solidFill>
            <a:prstDash val="solid"/>
            <a:round/>
            <a:headEnd len="med" w="med" type="none"/>
            <a:tailEnd len="med" w="med" type="stealth"/>
          </a:ln>
        </p:spPr>
      </p:cxnSp>
      <p:sp>
        <p:nvSpPr>
          <p:cNvPr id="80" name="Google Shape;80;p13"/>
          <p:cNvSpPr txBox="1"/>
          <p:nvPr/>
        </p:nvSpPr>
        <p:spPr>
          <a:xfrm>
            <a:off x="164475" y="1836476"/>
            <a:ext cx="1643100" cy="5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CC0000"/>
                </a:solidFill>
              </a:rPr>
              <a:t>SOLID LINE indicates </a:t>
            </a:r>
            <a:r>
              <a:rPr b="1" lang="en" sz="1100">
                <a:solidFill>
                  <a:srgbClr val="990000"/>
                </a:solidFill>
              </a:rPr>
              <a:t>significant pathway</a:t>
            </a:r>
            <a:endParaRPr b="1" sz="1100">
              <a:solidFill>
                <a:srgbClr val="990000"/>
              </a:solidFill>
            </a:endParaRPr>
          </a:p>
        </p:txBody>
      </p:sp>
      <p:cxnSp>
        <p:nvCxnSpPr>
          <p:cNvPr id="81" name="Google Shape;81;p13"/>
          <p:cNvCxnSpPr/>
          <p:nvPr/>
        </p:nvCxnSpPr>
        <p:spPr>
          <a:xfrm rot="10800000">
            <a:off x="5228593" y="3664742"/>
            <a:ext cx="1902300" cy="701100"/>
          </a:xfrm>
          <a:prstGeom prst="straightConnector1">
            <a:avLst/>
          </a:prstGeom>
          <a:noFill/>
          <a:ln cap="flat" cmpd="sng" w="19050">
            <a:solidFill>
              <a:srgbClr val="D72638"/>
            </a:solidFill>
            <a:prstDash val="solid"/>
            <a:round/>
            <a:headEnd len="med" w="med" type="none"/>
            <a:tailEnd len="med" w="med" type="stealth"/>
          </a:ln>
        </p:spPr>
      </p:cxnSp>
      <p:sp>
        <p:nvSpPr>
          <p:cNvPr id="82" name="Google Shape;82;p13"/>
          <p:cNvSpPr txBox="1"/>
          <p:nvPr/>
        </p:nvSpPr>
        <p:spPr>
          <a:xfrm>
            <a:off x="7130900" y="4235200"/>
            <a:ext cx="1768800" cy="44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CC0000"/>
                </a:solidFill>
              </a:rPr>
              <a:t>DOTTED</a:t>
            </a:r>
            <a:r>
              <a:rPr b="1" lang="en" sz="1100">
                <a:solidFill>
                  <a:srgbClr val="CC0000"/>
                </a:solidFill>
              </a:rPr>
              <a:t> LINE indicates  </a:t>
            </a:r>
            <a:r>
              <a:rPr b="1" lang="en" sz="1100">
                <a:solidFill>
                  <a:srgbClr val="990000"/>
                </a:solidFill>
              </a:rPr>
              <a:t>not significant pathway</a:t>
            </a:r>
            <a:endParaRPr b="1" sz="1100">
              <a:solidFill>
                <a:srgbClr val="990000"/>
              </a:solidFill>
            </a:endParaRPr>
          </a:p>
        </p:txBody>
      </p:sp>
      <p:sp>
        <p:nvSpPr>
          <p:cNvPr id="83" name="Google Shape;83;p13"/>
          <p:cNvSpPr txBox="1"/>
          <p:nvPr/>
        </p:nvSpPr>
        <p:spPr>
          <a:xfrm>
            <a:off x="1011985" y="3714450"/>
            <a:ext cx="634500" cy="44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Impact"/>
                <a:ea typeface="Impact"/>
                <a:cs typeface="Impact"/>
                <a:sym typeface="Impact"/>
              </a:rPr>
              <a:t>T+1</a:t>
            </a:r>
            <a:endParaRPr sz="1800">
              <a:solidFill>
                <a:schemeClr val="dk2"/>
              </a:solidFill>
              <a:latin typeface="Impact"/>
              <a:ea typeface="Impact"/>
              <a:cs typeface="Impact"/>
              <a:sym typeface="Impact"/>
            </a:endParaRPr>
          </a:p>
        </p:txBody>
      </p:sp>
      <p:sp>
        <p:nvSpPr>
          <p:cNvPr id="84" name="Google Shape;84;p13"/>
          <p:cNvSpPr/>
          <p:nvPr/>
        </p:nvSpPr>
        <p:spPr>
          <a:xfrm>
            <a:off x="2364261" y="2031607"/>
            <a:ext cx="742500" cy="508800"/>
          </a:xfrm>
          <a:prstGeom prst="wedgeRectCallout">
            <a:avLst>
              <a:gd fmla="val 22713" name="adj1"/>
              <a:gd fmla="val 78245"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latin typeface="Instrument Sans"/>
                <a:ea typeface="Instrument Sans"/>
                <a:cs typeface="Instrument Sans"/>
                <a:sym typeface="Instrument Sans"/>
              </a:rPr>
              <a:t>0.006**</a:t>
            </a:r>
            <a:endParaRPr b="1" sz="1100">
              <a:latin typeface="Instrument Sans"/>
              <a:ea typeface="Instrument Sans"/>
              <a:cs typeface="Instrument Sans"/>
              <a:sym typeface="Instrument Sans"/>
            </a:endParaRPr>
          </a:p>
        </p:txBody>
      </p:sp>
      <p:sp>
        <p:nvSpPr>
          <p:cNvPr id="85" name="Google Shape;85;p13"/>
          <p:cNvSpPr/>
          <p:nvPr/>
        </p:nvSpPr>
        <p:spPr>
          <a:xfrm>
            <a:off x="4851304" y="2466789"/>
            <a:ext cx="742500" cy="508800"/>
          </a:xfrm>
          <a:prstGeom prst="wedgeRectCallout">
            <a:avLst>
              <a:gd fmla="val 22713" name="adj1"/>
              <a:gd fmla="val 78245"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dk1"/>
                </a:solidFill>
                <a:latin typeface="Instrument Sans"/>
                <a:ea typeface="Instrument Sans"/>
                <a:cs typeface="Instrument Sans"/>
                <a:sym typeface="Instrument Sans"/>
              </a:rPr>
              <a:t>0.003**</a:t>
            </a:r>
            <a:endParaRPr>
              <a:latin typeface="Instrument Sans"/>
              <a:ea typeface="Instrument Sans"/>
              <a:cs typeface="Instrument Sans"/>
              <a:sym typeface="Instrument Sans"/>
            </a:endParaRPr>
          </a:p>
        </p:txBody>
      </p:sp>
      <p:cxnSp>
        <p:nvCxnSpPr>
          <p:cNvPr id="86" name="Google Shape;86;p13"/>
          <p:cNvCxnSpPr/>
          <p:nvPr/>
        </p:nvCxnSpPr>
        <p:spPr>
          <a:xfrm>
            <a:off x="77250" y="1041838"/>
            <a:ext cx="8933400" cy="11700"/>
          </a:xfrm>
          <a:prstGeom prst="straightConnector1">
            <a:avLst/>
          </a:prstGeom>
          <a:noFill/>
          <a:ln cap="flat" cmpd="sng" w="9525">
            <a:solidFill>
              <a:srgbClr val="000000"/>
            </a:solidFill>
            <a:prstDash val="solid"/>
            <a:round/>
            <a:headEnd len="med" w="med" type="none"/>
            <a:tailEnd len="med" w="med" type="none"/>
          </a:ln>
        </p:spPr>
      </p:cxnSp>
      <p:cxnSp>
        <p:nvCxnSpPr>
          <p:cNvPr id="87" name="Google Shape;87;p13"/>
          <p:cNvCxnSpPr/>
          <p:nvPr/>
        </p:nvCxnSpPr>
        <p:spPr>
          <a:xfrm>
            <a:off x="2573663" y="1760425"/>
            <a:ext cx="184200" cy="252300"/>
          </a:xfrm>
          <a:prstGeom prst="straightConnector1">
            <a:avLst/>
          </a:prstGeom>
          <a:noFill/>
          <a:ln cap="flat" cmpd="sng" w="19050">
            <a:solidFill>
              <a:srgbClr val="D72638"/>
            </a:solidFill>
            <a:prstDash val="solid"/>
            <a:round/>
            <a:headEnd len="med" w="med" type="none"/>
            <a:tailEnd len="med" w="med" type="stealth"/>
          </a:ln>
        </p:spPr>
      </p:cxnSp>
      <p:sp>
        <p:nvSpPr>
          <p:cNvPr id="88" name="Google Shape;88;p13"/>
          <p:cNvSpPr txBox="1"/>
          <p:nvPr/>
        </p:nvSpPr>
        <p:spPr>
          <a:xfrm>
            <a:off x="2251337" y="1340788"/>
            <a:ext cx="828900" cy="4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CC0000"/>
                </a:solidFill>
              </a:rPr>
              <a:t>RESULTS p-value</a:t>
            </a:r>
            <a:endParaRPr b="1" sz="1100">
              <a:solidFill>
                <a:srgbClr val="CC0000"/>
              </a:solidFill>
            </a:endParaRPr>
          </a:p>
          <a:p>
            <a:pPr indent="0" lvl="0" marL="0" rtl="0" algn="l">
              <a:spcBef>
                <a:spcPts val="0"/>
              </a:spcBef>
              <a:spcAft>
                <a:spcPts val="0"/>
              </a:spcAft>
              <a:buNone/>
            </a:pPr>
            <a:r>
              <a:t/>
            </a:r>
            <a:endParaRPr b="1" sz="900">
              <a:solidFill>
                <a:srgbClr val="CC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